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Справа настоящий кадр, этап 3: четыре цвета и два мяча.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Кадр из настоящей игры, этап 1. Мяч попал в секцию своего цвета: секция мигает, всплывает +1. Поданный мяч белый, первый удар только окрашивает его. Угол удара зависит от того, каким местом ракетки отбит мяч и куда ракетка движется.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Этап меняет StageController по счёту: перестраивает стену и добавляет мяч. На всех трёх кадрах один и тот же забег.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Состояния раунда: Menu, Playing, Victory, Defeat. Рекорды (лучший счёт и лучшее время победы) хранит BestResultTracker в PlayerPrefs. Кнопки: ИГРАТЬ СНОВА и В МЕНЮ.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 сообщает об ударе в BallEvents. WallHitReferee ищет секцию под мячом через WallSections и при совпадении цвета вызывает GameSession.AddScore(1). BallLossHandler вызывает GameSession.LoseHeart(); если раунд продолжается, через 0,8 с мяч подаётся заново, белым. StageController следит за счётом и меняет этап. Рекорды хранит BestResultTracker в PlayerPrefs. Звуки и всплывающие надписи подписаны на те же события.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2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711200" y="3136900"/>
            <a:ext cx="7251700" cy="55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4000" dirty="0">
                <a:solidFill>
                  <a:srgbClr val="ECEEF5"/>
                </a:solidFill>
                <a:latin typeface="Nunito" pitchFamily="34" charset="0"/>
                <a:ea typeface="Nunito" pitchFamily="34" charset="-122"/>
                <a:cs typeface="Nunito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4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711200" y="4000450"/>
            <a:ext cx="10668000" cy="2044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ECEEF5"/>
                </a:solidFill>
                <a:latin typeface="Nunito" pitchFamily="34" charset="0"/>
                <a:ea typeface="Nunito" pitchFamily="34" charset="-122"/>
                <a:cs typeface="Nunito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711200" y="3136900"/>
            <a:ext cx="7251700" cy="55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4000" dirty="0">
                <a:solidFill>
                  <a:srgbClr val="ECEEF5"/>
                </a:solidFill>
                <a:latin typeface="Nunito" pitchFamily="34" charset="0"/>
                <a:ea typeface="Nunito" pitchFamily="34" charset="-122"/>
                <a:cs typeface="Nunito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4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711200" y="4000450"/>
            <a:ext cx="10668000" cy="2044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ECEEF5"/>
                </a:solidFill>
                <a:latin typeface="Nunito" pitchFamily="34" charset="0"/>
                <a:ea typeface="Nunito" pitchFamily="34" charset="-122"/>
                <a:cs typeface="Nunito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Кадр игры: четыре цветные секции стены, два мяча на столе, ракетка">    </p:cNvPr>
          <p:cNvPicPr>
            <a:picLocks noChangeAspect="1"/>
          </p:cNvPicPr>
          <p:nvPr/>
        </p:nvPicPr>
        <p:blipFill>
          <a:blip r:embed="rId1"/>
          <a:srcRect l="0" r="0" t="-9" b="-9"/>
          <a:stretch/>
        </p:blipFill>
        <p:spPr>
          <a:xfrm>
            <a:off x="5060950" y="0"/>
            <a:ext cx="713105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800" y="2146300"/>
            <a:ext cx="418592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E840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ЦВ</a:t>
            </a:r>
            <a:r>
              <a:rPr lang="en-US" sz="6000" b="1" i="0" dirty="0">
                <a:solidFill>
                  <a:srgbClr val="F5CC3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ЕТ</a:t>
            </a:r>
            <a:r>
              <a:rPr lang="en-US" sz="6000" b="1" i="0" dirty="0">
                <a:solidFill>
                  <a:srgbClr val="3A8A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НА</a:t>
            </a:r>
            <a:r>
              <a:rPr lang="en-US" sz="6000" b="1" i="0" dirty="0">
                <a:solidFill>
                  <a:srgbClr val="D255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Я</a:t>
            </a:r>
            <a:endParaRPr lang="en-US" sz="6000" dirty="0"/>
          </a:p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5CC3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СТ</a:t>
            </a:r>
            <a:r>
              <a:rPr lang="en-US" sz="6000" b="1" i="0" dirty="0">
                <a:solidFill>
                  <a:srgbClr val="3A8A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Е</a:t>
            </a:r>
            <a:r>
              <a:rPr lang="en-US" sz="6000" b="1" i="0" dirty="0">
                <a:solidFill>
                  <a:srgbClr val="E840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НА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812800" y="4000500"/>
            <a:ext cx="39243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AEB4C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пинг-понг об стену из цветных секций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Кадр игры, этап 1 Разминка: три секции, верное попадание +1, очки 2 из 15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5100" y="1720850"/>
            <a:ext cx="3543300" cy="421580"/>
          </a:xfrm>
          <a:prstGeom prst="roundRect">
            <a:avLst>
              <a:gd name="adj" fmla="val 16569"/>
            </a:avLst>
          </a:prstGeom>
          <a:solidFill>
            <a:srgbClr val="1E2440"/>
          </a:solidFill>
          <a:ln w="12700">
            <a:solidFill>
              <a:srgbClr val="3A4570"/>
            </a:solidFill>
            <a:prstDash val="solid"/>
          </a:ln>
        </p:spPr>
        <p:txBody>
          <a:bodyPr wrap="square" lIns="125592" tIns="74792" rIns="28056" bIns="49392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ECEE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пропустил мяч — минус </a:t>
            </a:r>
            <a:r>
              <a:rPr lang="en-US" sz="1400" dirty="0">
                <a:solidFill>
                  <a:srgbClr val="E840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сердце</a:t>
            </a:r>
            <a:r>
              <a:rPr lang="en-US" sz="1400" dirty="0">
                <a:solidFill>
                  <a:srgbClr val="ECEE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, их 3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65100" y="2419350"/>
            <a:ext cx="3543300" cy="421580"/>
          </a:xfrm>
          <a:prstGeom prst="roundRect">
            <a:avLst>
              <a:gd name="adj" fmla="val 16569"/>
            </a:avLst>
          </a:prstGeom>
          <a:solidFill>
            <a:srgbClr val="1E2440"/>
          </a:solidFill>
          <a:ln w="12700">
            <a:solidFill>
              <a:srgbClr val="3A4570"/>
            </a:solidFill>
            <a:prstDash val="solid"/>
          </a:ln>
        </p:spPr>
        <p:txBody>
          <a:bodyPr wrap="square" lIns="125592" tIns="74792" rIns="28056" bIns="49392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ECEE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15 очков — </a:t>
            </a:r>
            <a:r>
              <a:rPr lang="en-US" sz="1400" dirty="0">
                <a:solidFill>
                  <a:srgbClr val="3FC8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победа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880350" y="2482850"/>
            <a:ext cx="3797300" cy="652661"/>
          </a:xfrm>
          <a:prstGeom prst="roundRect">
            <a:avLst>
              <a:gd name="adj" fmla="val 10702"/>
            </a:avLst>
          </a:prstGeom>
          <a:solidFill>
            <a:srgbClr val="1E2440"/>
          </a:solidFill>
          <a:ln w="12700">
            <a:solidFill>
              <a:srgbClr val="3A4570"/>
            </a:solidFill>
            <a:prstDash val="solid"/>
          </a:ln>
        </p:spPr>
        <p:txBody>
          <a:bodyPr wrap="square" lIns="125592" tIns="74792" rIns="20436" bIns="49392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ECEE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мяч меняет цвет после каждого отскока от стены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880350" y="3435350"/>
            <a:ext cx="3797300" cy="652661"/>
          </a:xfrm>
          <a:prstGeom prst="roundRect">
            <a:avLst>
              <a:gd name="adj" fmla="val 10702"/>
            </a:avLst>
          </a:prstGeom>
          <a:solidFill>
            <a:srgbClr val="1E2440"/>
          </a:solidFill>
          <a:ln w="12700">
            <a:solidFill>
              <a:srgbClr val="3A4570"/>
            </a:solidFill>
            <a:prstDash val="solid"/>
          </a:ln>
        </p:spPr>
        <p:txBody>
          <a:bodyPr wrap="square" lIns="125592" tIns="74792" rIns="20436" bIns="49392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ECEE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в секцию того же цвета: </a:t>
            </a:r>
            <a:r>
              <a:rPr lang="en-US" sz="1400" dirty="0">
                <a:solidFill>
                  <a:srgbClr val="3FC8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+1</a:t>
            </a:r>
            <a:endParaRPr lang="en-US" sz="14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AEB4C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не тот цвет: очко не засчитывается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13500" y="5607050"/>
            <a:ext cx="444500" cy="25400"/>
          </a:xfrm>
          <a:prstGeom prst="rect">
            <a:avLst/>
          </a:prstGeom>
          <a:solidFill>
            <a:srgbClr val="3A4570"/>
          </a:solidFill>
          <a:ln/>
        </p:spPr>
      </p:sp>
      <p:sp>
        <p:nvSpPr>
          <p:cNvPr id="8" name="Text 5"/>
          <p:cNvSpPr/>
          <p:nvPr/>
        </p:nvSpPr>
        <p:spPr>
          <a:xfrm>
            <a:off x="6864350" y="5308600"/>
            <a:ext cx="3162300" cy="652661"/>
          </a:xfrm>
          <a:prstGeom prst="roundRect">
            <a:avLst>
              <a:gd name="adj" fmla="val 10702"/>
            </a:avLst>
          </a:prstGeom>
          <a:solidFill>
            <a:srgbClr val="1E2440"/>
          </a:solidFill>
          <a:ln w="12700">
            <a:solidFill>
              <a:srgbClr val="3A4570"/>
            </a:solidFill>
            <a:prstDash val="solid"/>
          </a:ln>
        </p:spPr>
        <p:txBody>
          <a:bodyPr wrap="square" lIns="125592" tIns="74792" rIns="39486" bIns="49392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ECEE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зажми ЛКМ и веди ракетку</a:t>
            </a:r>
            <a:endParaRPr lang="en-US" sz="14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AEB4C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угол зависит от точки удара</a:t>
            </a:r>
            <a:endParaRPr lang="en-US" sz="1400" dirty="0"/>
          </a:p>
        </p:txBody>
      </p:sp>
      <p:sp>
        <p:nvSpPr>
          <p:cNvPr id="9" name="Text 6"/>
          <p:cNvSpPr/>
          <p:nvPr>
            <p:ph type="title"/>
          </p:nvPr>
        </p:nvSpPr>
        <p:spPr>
          <a:xfrm>
            <a:off x="609600" y="5461000"/>
            <a:ext cx="4055110" cy="64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ECEE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Как играть</a:t>
            </a:r>
            <a:endParaRPr lang="en-US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ECEE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Три этапа</a:t>
            </a:r>
            <a:endParaRPr lang="en-US" sz="3600" dirty="0"/>
          </a:p>
        </p:txBody>
      </p:sp>
      <p:pic>
        <p:nvPicPr>
          <p:cNvPr id="3" name="Image 0" descr="Этап 1: три секции, жёлтая, белая после попадания, синяя">    </p:cNvPr>
          <p:cNvPicPr>
            <a:picLocks noChangeAspect="1"/>
          </p:cNvPicPr>
          <p:nvPr/>
        </p:nvPicPr>
        <p:blipFill>
          <a:blip r:embed="rId1"/>
          <a:srcRect l="-31" r="-31" t="0" b="0"/>
          <a:stretch/>
        </p:blipFill>
        <p:spPr>
          <a:xfrm>
            <a:off x="812800" y="1671241"/>
            <a:ext cx="3251200" cy="3124200"/>
          </a:xfrm>
          <a:prstGeom prst="roundRect">
            <a:avLst>
              <a:gd name="adj" fmla="val 2439"/>
            </a:avLst>
          </a:prstGeom>
        </p:spPr>
      </p:pic>
      <p:sp>
        <p:nvSpPr>
          <p:cNvPr id="4" name="Text 1"/>
          <p:cNvSpPr/>
          <p:nvPr/>
        </p:nvSpPr>
        <p:spPr>
          <a:xfrm>
            <a:off x="812800" y="4897041"/>
            <a:ext cx="334873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5CC3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Разминка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12800" y="5333901"/>
            <a:ext cx="334873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AEB4C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 0 очков · 3 цвета</a:t>
            </a:r>
            <a:endParaRPr lang="en-US" sz="1400" dirty="0"/>
          </a:p>
        </p:txBody>
      </p:sp>
      <p:pic>
        <p:nvPicPr>
          <p:cNvPr id="6" name="Image 1" descr="Этап 2: четыре секции, синий мяч у стены">    </p:cNvPr>
          <p:cNvPicPr>
            <a:picLocks noChangeAspect="1"/>
          </p:cNvPicPr>
          <p:nvPr/>
        </p:nvPicPr>
        <p:blipFill>
          <a:blip r:embed="rId2"/>
          <a:srcRect l="-31" r="-31" t="0" b="0"/>
          <a:stretch/>
        </p:blipFill>
        <p:spPr>
          <a:xfrm>
            <a:off x="4470400" y="1671241"/>
            <a:ext cx="3251200" cy="3124200"/>
          </a:xfrm>
          <a:prstGeom prst="roundRect">
            <a:avLst>
              <a:gd name="adj" fmla="val 2439"/>
            </a:avLst>
          </a:prstGeom>
        </p:spPr>
      </p:pic>
      <p:sp>
        <p:nvSpPr>
          <p:cNvPr id="7" name="Text 3"/>
          <p:cNvSpPr/>
          <p:nvPr/>
        </p:nvSpPr>
        <p:spPr>
          <a:xfrm>
            <a:off x="4470400" y="4897041"/>
            <a:ext cx="334873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3A8A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Перемешка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470400" y="5333901"/>
            <a:ext cx="334873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AEB4C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 5 очков · 4 цвета · после верного удара секции меняются местами</a:t>
            </a:r>
            <a:endParaRPr lang="en-US" sz="1400" dirty="0"/>
          </a:p>
        </p:txBody>
      </p:sp>
      <p:pic>
        <p:nvPicPr>
          <p:cNvPr id="9" name="Image 2" descr="Этап 3: четыре секции, белый и красный мячи на столе">    </p:cNvPr>
          <p:cNvPicPr>
            <a:picLocks noChangeAspect="1"/>
          </p:cNvPicPr>
          <p:nvPr/>
        </p:nvPicPr>
        <p:blipFill>
          <a:blip r:embed="rId3"/>
          <a:srcRect l="-31" r="-31" t="0" b="0"/>
          <a:stretch/>
        </p:blipFill>
        <p:spPr>
          <a:xfrm>
            <a:off x="8128000" y="1671241"/>
            <a:ext cx="3251200" cy="3124200"/>
          </a:xfrm>
          <a:prstGeom prst="roundRect">
            <a:avLst>
              <a:gd name="adj" fmla="val 2439"/>
            </a:avLst>
          </a:prstGeom>
        </p:spPr>
      </p:pic>
      <p:sp>
        <p:nvSpPr>
          <p:cNvPr id="10" name="Text 5"/>
          <p:cNvSpPr/>
          <p:nvPr/>
        </p:nvSpPr>
        <p:spPr>
          <a:xfrm>
            <a:off x="8128000" y="4897041"/>
            <a:ext cx="334873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D255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Два мяча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8128000" y="5333901"/>
            <a:ext cx="334873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AEB4C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 10 очков · второй мяч, перемешка остаётся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ECEE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Чем заканчивается раунд</a:t>
            </a:r>
            <a:endParaRPr lang="en-US" sz="3600" dirty="0"/>
          </a:p>
        </p:txBody>
      </p:sp>
      <p:pic>
        <p:nvPicPr>
          <p:cNvPr id="3" name="Image 0" descr="Экран: Победа! Очки 15 из 15, время 00:29, новый рекорд">    </p:cNvPr>
          <p:cNvPicPr>
            <a:picLocks noChangeAspect="1"/>
          </p:cNvPicPr>
          <p:nvPr/>
        </p:nvPicPr>
        <p:blipFill>
          <a:blip r:embed="rId1"/>
          <a:srcRect l="-23" r="-23" t="0" b="0"/>
          <a:stretch/>
        </p:blipFill>
        <p:spPr>
          <a:xfrm>
            <a:off x="1346200" y="1671241"/>
            <a:ext cx="4445000" cy="3854450"/>
          </a:xfrm>
          <a:prstGeom prst="roundRect">
            <a:avLst>
              <a:gd name="adj" fmla="val 1977"/>
            </a:avLst>
          </a:prstGeom>
        </p:spPr>
      </p:pic>
      <p:sp>
        <p:nvSpPr>
          <p:cNvPr id="4" name="Text 1"/>
          <p:cNvSpPr/>
          <p:nvPr/>
        </p:nvSpPr>
        <p:spPr>
          <a:xfrm>
            <a:off x="1346200" y="5652691"/>
            <a:ext cx="45783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ECEE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15 очков — победа, лучшее время сохраняется</a:t>
            </a:r>
            <a:endParaRPr lang="en-US" sz="1400" dirty="0"/>
          </a:p>
        </p:txBody>
      </p:sp>
      <p:pic>
        <p:nvPicPr>
          <p:cNvPr id="5" name="Image 1" descr="Экран: Поражение, очки 1 из 15, рекорд 15">    </p:cNvPr>
          <p:cNvPicPr>
            <a:picLocks noChangeAspect="1"/>
          </p:cNvPicPr>
          <p:nvPr/>
        </p:nvPicPr>
        <p:blipFill>
          <a:blip r:embed="rId2"/>
          <a:srcRect l="-23" r="-23" t="0" b="0"/>
          <a:stretch/>
        </p:blipFill>
        <p:spPr>
          <a:xfrm>
            <a:off x="6400800" y="1671241"/>
            <a:ext cx="4445000" cy="3854450"/>
          </a:xfrm>
          <a:prstGeom prst="roundRect">
            <a:avLst>
              <a:gd name="adj" fmla="val 1977"/>
            </a:avLst>
          </a:prstGeom>
        </p:spPr>
      </p:pic>
      <p:sp>
        <p:nvSpPr>
          <p:cNvPr id="6" name="Text 2"/>
          <p:cNvSpPr/>
          <p:nvPr/>
        </p:nvSpPr>
        <p:spPr>
          <a:xfrm>
            <a:off x="6400800" y="5652691"/>
            <a:ext cx="45783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ECEE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сердца кончились — поражение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ECEE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Как устроен код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9150" y="2278261"/>
            <a:ext cx="1892300" cy="985441"/>
          </a:xfrm>
          <a:prstGeom prst="roundRect">
            <a:avLst>
              <a:gd name="adj" fmla="val 7088"/>
            </a:avLst>
          </a:prstGeom>
          <a:solidFill>
            <a:srgbClr val="121829"/>
          </a:solidFill>
          <a:ln w="12700">
            <a:solidFill>
              <a:srgbClr val="3A45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7900" y="2411611"/>
            <a:ext cx="1625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5CC3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Ball, BallEvents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77900" y="2703711"/>
            <a:ext cx="16256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EB4C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физика, события ударов и потерь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19400" y="2557661"/>
            <a:ext cx="3657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ECEE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32150" y="1728391"/>
            <a:ext cx="2273300" cy="985441"/>
          </a:xfrm>
          <a:prstGeom prst="roundRect">
            <a:avLst>
              <a:gd name="adj" fmla="val 7088"/>
            </a:avLst>
          </a:prstGeom>
          <a:solidFill>
            <a:srgbClr val="121829"/>
          </a:solidFill>
          <a:ln w="12700">
            <a:solidFill>
              <a:srgbClr val="3A45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90900" y="1861741"/>
            <a:ext cx="201447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A8A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WallHitReferee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90900" y="2153841"/>
            <a:ext cx="201447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EB4C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сверяет цвет мяча и секции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32150" y="2828131"/>
            <a:ext cx="2273300" cy="985441"/>
          </a:xfrm>
          <a:prstGeom prst="roundRect">
            <a:avLst>
              <a:gd name="adj" fmla="val 7088"/>
            </a:avLst>
          </a:prstGeom>
          <a:solidFill>
            <a:srgbClr val="121829"/>
          </a:solidFill>
          <a:ln w="12700">
            <a:solidFill>
              <a:srgbClr val="3A45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90900" y="2961481"/>
            <a:ext cx="201447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840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BallLossHandler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90900" y="3253581"/>
            <a:ext cx="201447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EB4C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минус сердце, новая подача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13400" y="2557661"/>
            <a:ext cx="3657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ECEE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026150" y="2278261"/>
            <a:ext cx="1892300" cy="985441"/>
          </a:xfrm>
          <a:prstGeom prst="roundRect">
            <a:avLst>
              <a:gd name="adj" fmla="val 7088"/>
            </a:avLst>
          </a:prstGeom>
          <a:solidFill>
            <a:srgbClr val="121829"/>
          </a:solidFill>
          <a:ln w="12700">
            <a:solidFill>
              <a:srgbClr val="3A45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4900" y="2411611"/>
            <a:ext cx="1625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FC8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GameSession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84900" y="2703711"/>
            <a:ext cx="16256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EB4C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очки, сердца, состояние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26400" y="2557661"/>
            <a:ext cx="3657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ECEE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8439150" y="1835051"/>
            <a:ext cx="2527300" cy="772120"/>
          </a:xfrm>
          <a:prstGeom prst="roundRect">
            <a:avLst>
              <a:gd name="adj" fmla="val 9047"/>
            </a:avLst>
          </a:prstGeom>
          <a:solidFill>
            <a:srgbClr val="121829"/>
          </a:solidFill>
          <a:ln w="12700">
            <a:solidFill>
              <a:srgbClr val="3A45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7900" y="1968401"/>
            <a:ext cx="227609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255E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StageController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97900" y="2260501"/>
            <a:ext cx="22760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EB4C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этапы: стена, второй мяч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39150" y="2721471"/>
            <a:ext cx="2527300" cy="985441"/>
          </a:xfrm>
          <a:prstGeom prst="roundRect">
            <a:avLst>
              <a:gd name="adj" fmla="val 7088"/>
            </a:avLst>
          </a:prstGeom>
          <a:solidFill>
            <a:srgbClr val="121829"/>
          </a:solidFill>
          <a:ln w="12700">
            <a:solidFill>
              <a:srgbClr val="3A45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7900" y="2854821"/>
            <a:ext cx="227609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CEE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HudView, ResultView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597900" y="3146921"/>
            <a:ext cx="227609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EB4C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экраны и кнопки, правил не решают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2800" y="4226322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CEE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Zenject собирает сцену в GameInstaller · события на UniRx · анимации на DOTween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EB4C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Unity 6000.4.0f1 · Assets/Scripts/PongWall/ColorWall · ОБЪЯСНЕНИЕ_КОДА.md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Цветная стена — Color Wall">
  <a:themeElements>
    <a:clrScheme name="Цветная стена — Color Wall">
      <a:dk1>
        <a:srgbClr val="121829"/>
      </a:dk1>
      <a:lt1>
        <a:srgbClr val="ECEEF5"/>
      </a:lt1>
      <a:dk2>
        <a:srgbClr val="282D3D"/>
      </a:dk2>
      <a:lt2>
        <a:srgbClr val="B6B9C2"/>
      </a:lt2>
      <a:accent1>
        <a:srgbClr val="F5CC35"/>
      </a:accent1>
      <a:accent2>
        <a:srgbClr val="3A8AF5"/>
      </a:accent2>
      <a:accent3>
        <a:srgbClr val="D255E0"/>
      </a:accent3>
      <a:accent4>
        <a:srgbClr val="3A4570"/>
      </a:accent4>
      <a:accent5>
        <a:srgbClr val="E8404A"/>
      </a:accent5>
      <a:accent6>
        <a:srgbClr val="3FC87A"/>
      </a:accent6>
      <a:hlink>
        <a:srgbClr val="0563C1"/>
      </a:hlink>
      <a:folHlink>
        <a:srgbClr val="954F72"/>
      </a:folHlink>
    </a:clrScheme>
    <a:fontScheme name="Цветная стена — Color Wall">
      <a:majorFont>
        <a:latin typeface="Nun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un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Цветная стена — Color Wall</dc:title>
  <dc:subject/>
  <dc:creator/>
  <cp:lastModifiedBy/>
  <cp:revision>1</cp:revision>
  <dcterms:created xsi:type="dcterms:W3CDTF">2026-10-19T16:55:57Z</dcterms:created>
  <dcterms:modified xsi:type="dcterms:W3CDTF">2026-10-19T16:55:57Z</dcterms:modified>
</cp:coreProperties>
</file>